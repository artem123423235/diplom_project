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  <a:defRPr sz="4400" b="1" i="0">
                <a:solidFill>
                  <a:srgbClr val="FFFFFF"/>
                </a:solidFill>
                <a:latin typeface="Calibri"/>
              </a:defRPr>
            </a:pPr>
            <a:r>
              <a:t>Backend-платформа</a:t>
            </a:r>
          </a:p>
          <a:p>
            <a:pPr algn="l">
              <a:spcAft>
                <a:spcPts val="2000"/>
              </a:spcAft>
              <a:defRPr sz="3000" b="0" i="0">
                <a:solidFill>
                  <a:srgbClr val="FFFFFF"/>
                </a:solidFill>
                <a:latin typeface="Calibri"/>
              </a:defRPr>
            </a:pPr>
            <a:r>
              <a:t>для управления онлайн-обучением</a:t>
            </a:r>
          </a:p>
          <a:p>
            <a:pPr algn="l">
              <a:spcAft>
                <a:spcPts val="0"/>
              </a:spcAft>
              <a:defRPr sz="2000" b="0" i="1">
                <a:solidFill>
                  <a:srgbClr val="BBD0E6"/>
                </a:solidFill>
                <a:latin typeface="Calibri"/>
              </a:defRPr>
            </a:pPr>
            <a:r>
              <a:t>Дипломный проект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97680"/>
            <a:ext cx="10362895" cy="6771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  <a:defRPr sz="2200" b="1" i="0">
                <a:solidFill>
                  <a:srgbClr val="333333"/>
                </a:solidFill>
                <a:latin typeface="Calibri"/>
              </a:defRPr>
            </a:pPr>
            <a:r>
              <a:rPr lang="ru-RU" dirty="0" err="1"/>
              <a:t>Карандаев</a:t>
            </a:r>
            <a:r>
              <a:rPr lang="ru-RU" dirty="0"/>
              <a:t> Артем</a:t>
            </a:r>
            <a:br>
              <a:rPr lang="ru-RU" dirty="0"/>
            </a:br>
            <a:r>
              <a:rPr lang="ru-RU" dirty="0"/>
              <a:t>17.10.2026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Проблема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11535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200"/>
              </a:spcAft>
              <a:defRPr sz="2200" b="0" i="0">
                <a:solidFill>
                  <a:srgbClr val="333333"/>
                </a:solidFill>
                <a:latin typeface="Calibri"/>
              </a:defRPr>
            </a:pPr>
            <a:r>
              <a:t>•  Учебные центры и репетиторы ведут обучение в чатах и таблицах</a:t>
            </a:r>
          </a:p>
          <a:p>
            <a:pPr algn="l">
              <a:spcAft>
                <a:spcPts val="2200"/>
              </a:spcAft>
              <a:defRPr sz="2200" b="0" i="0">
                <a:solidFill>
                  <a:srgbClr val="333333"/>
                </a:solidFill>
                <a:latin typeface="Calibri"/>
              </a:defRPr>
            </a:pPr>
            <a:r>
              <a:t>•  Домашки теряются, тесты проверяются вручную</a:t>
            </a:r>
          </a:p>
          <a:p>
            <a:pPr algn="l">
              <a:spcAft>
                <a:spcPts val="2200"/>
              </a:spcAft>
              <a:defRPr sz="2200" b="0" i="0">
                <a:solidFill>
                  <a:srgbClr val="333333"/>
                </a:solidFill>
                <a:latin typeface="Calibri"/>
              </a:defRPr>
            </a:pPr>
            <a:r>
              <a:t>•  Прогресс ученика никто не отслеживает — «кто что прошёл» непонятно</a:t>
            </a:r>
          </a:p>
          <a:p>
            <a:pPr algn="l">
              <a:spcAft>
                <a:spcPts val="2200"/>
              </a:spcAft>
              <a:defRPr sz="2200" b="0" i="0">
                <a:solidFill>
                  <a:srgbClr val="333333"/>
                </a:solidFill>
                <a:latin typeface="Calibri"/>
              </a:defRPr>
            </a:pPr>
            <a:r>
              <a:t>•  Готовые LMS (например, Moodle) — тяжёлые и избыточные для небольшой школы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Что я предлагаю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7607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400"/>
              </a:spcAft>
              <a:defRPr sz="2000" b="1" i="0">
                <a:solidFill>
                  <a:srgbClr val="333333"/>
                </a:solidFill>
                <a:latin typeface="Calibri"/>
              </a:defRPr>
            </a:pPr>
            <a:r>
              <a:t>•  Компактная backend-платформа</a:t>
            </a:r>
          </a:p>
          <a:p>
            <a:pPr algn="l">
              <a:spcAft>
                <a:spcPts val="1400"/>
              </a:spcAft>
              <a:defRPr sz="2000" b="0" i="0">
                <a:solidFill>
                  <a:srgbClr val="333333"/>
                </a:solidFill>
                <a:latin typeface="Calibri"/>
              </a:defRPr>
            </a:pPr>
            <a:r>
              <a:t>•  Не сайт, а API — можно подключить любой интерфейс</a:t>
            </a:r>
          </a:p>
          <a:p>
            <a:pPr algn="l">
              <a:spcAft>
                <a:spcPts val="1400"/>
              </a:spcAft>
              <a:defRPr sz="2000" b="0" i="0">
                <a:solidFill>
                  <a:srgbClr val="333333"/>
                </a:solidFill>
                <a:latin typeface="Calibri"/>
              </a:defRPr>
            </a:pPr>
            <a:r>
              <a:t>•  Три роли с разными правами</a:t>
            </a:r>
          </a:p>
          <a:p>
            <a:pPr algn="l">
              <a:spcAft>
                <a:spcPts val="1400"/>
              </a:spcAft>
              <a:defRPr sz="2000" b="0" i="0">
                <a:solidFill>
                  <a:srgbClr val="333333"/>
                </a:solidFill>
                <a:latin typeface="Calibri"/>
              </a:defRPr>
            </a:pPr>
            <a:r>
              <a:t>     студент / преподаватель / администратор</a:t>
            </a:r>
          </a:p>
          <a:p>
            <a:pPr algn="l">
              <a:spcAft>
                <a:spcPts val="1400"/>
              </a:spcAft>
              <a:defRPr sz="2000" b="0" i="0">
                <a:solidFill>
                  <a:srgbClr val="333333"/>
                </a:solidFill>
                <a:latin typeface="Calibri"/>
              </a:defRPr>
            </a:pPr>
            <a:r>
              <a:t>•  Каждый работает только со своим</a:t>
            </a:r>
          </a:p>
          <a:p>
            <a:pPr algn="l">
              <a:spcAft>
                <a:spcPts val="1400"/>
              </a:spcAft>
              <a:defRPr sz="2000" b="0" i="0">
                <a:solidFill>
                  <a:srgbClr val="333333"/>
                </a:solidFill>
                <a:latin typeface="Calibri"/>
              </a:defRPr>
            </a:pPr>
            <a:r>
              <a:t>•  Легко разворачивается на любом сервере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1828800"/>
            <a:ext cx="1508760" cy="685800"/>
          </a:xfrm>
          <a:prstGeom prst="round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spcAft>
                <a:spcPts val="400"/>
              </a:spcAft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Веб-сайт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1828800"/>
            <a:ext cx="1508760" cy="685800"/>
          </a:xfrm>
          <a:prstGeom prst="round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spcAft>
                <a:spcPts val="400"/>
              </a:spcAft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Мобильное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49840" y="1828800"/>
            <a:ext cx="1508760" cy="685800"/>
          </a:xfrm>
          <a:prstGeom prst="round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spcAft>
                <a:spcPts val="400"/>
              </a:spcAft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Сервис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3383280"/>
            <a:ext cx="4892040" cy="15544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spcAft>
                <a:spcPts val="400"/>
              </a:spcAft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Мой API</a:t>
            </a:r>
          </a:p>
          <a:p>
            <a:pPr algn="ctr">
              <a:spcAft>
                <a:spcPts val="400"/>
              </a:spcAft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(backend на Django)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5212080"/>
            <a:ext cx="4892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400" b="0" i="1">
                <a:solidFill>
                  <a:srgbClr val="666666"/>
                </a:solidFill>
                <a:latin typeface="Calibri"/>
              </a:defRPr>
            </a:pPr>
            <a:r>
              <a:t>Логика обучения — на сервере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Главные тезисы (из ТЗ)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400"/>
              </a:spcAft>
              <a:defRPr sz="2400" b="0" i="0">
                <a:solidFill>
                  <a:srgbClr val="333333"/>
                </a:solidFill>
                <a:latin typeface="Calibri"/>
              </a:defRPr>
            </a:pPr>
            <a:r>
              <a:t>•  Хранение учебного контента:  курс → модуль → урок</a:t>
            </a:r>
          </a:p>
          <a:p>
            <a:pPr algn="l">
              <a:spcAft>
                <a:spcPts val="2400"/>
              </a:spcAft>
              <a:defRPr sz="2400" b="0" i="0">
                <a:solidFill>
                  <a:srgbClr val="333333"/>
                </a:solidFill>
                <a:latin typeface="Calibri"/>
              </a:defRPr>
            </a:pPr>
            <a:r>
              <a:t>•  Тесты:  тест → вопрос → вариант ответа</a:t>
            </a:r>
          </a:p>
          <a:p>
            <a:pPr algn="l">
              <a:spcAft>
                <a:spcPts val="2400"/>
              </a:spcAft>
              <a:defRPr sz="2400" b="0" i="0">
                <a:solidFill>
                  <a:srgbClr val="333333"/>
                </a:solidFill>
                <a:latin typeface="Calibri"/>
              </a:defRPr>
            </a:pPr>
            <a:r>
              <a:t>•  Запись студента на курс и отслеживание прогресса</a:t>
            </a:r>
          </a:p>
          <a:p>
            <a:pPr algn="l">
              <a:spcAft>
                <a:spcPts val="2400"/>
              </a:spcAft>
              <a:defRPr sz="2400" b="0" i="0">
                <a:solidFill>
                  <a:srgbClr val="333333"/>
                </a:solidFill>
                <a:latin typeface="Calibri"/>
              </a:defRPr>
            </a:pPr>
            <a:r>
              <a:t>•  Разграничение прав доступа на уровне сервера</a:t>
            </a:r>
          </a:p>
          <a:p>
            <a:pPr algn="l">
              <a:spcAft>
                <a:spcPts val="2400"/>
              </a:spcAft>
              <a:defRPr sz="2400" b="0" i="0">
                <a:solidFill>
                  <a:srgbClr val="333333"/>
                </a:solidFill>
                <a:latin typeface="Calibri"/>
              </a:defRPr>
            </a:pPr>
            <a:r>
              <a:t>•  Автодокументация API через Swagger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Стек технологий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54480"/>
          <a:ext cx="108813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3142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Слой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Технология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Зачем выбрана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Язык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Python 3.11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Основной стек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Фреймворк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Django 5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ORM, админка, миграции из коробки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Django REST Framework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Стандарт для REST API на Python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Авторизация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SimpleJWT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Токены вместо сессий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База данных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PostgreSQL (SQLite в dev)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Надёжность в продакшене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314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Документация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drf-spectacular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Swagger генерируется из кода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Архитектура проекта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1500" b="0" i="1">
                <a:solidFill>
                  <a:srgbClr val="666666"/>
                </a:solidFill>
                <a:latin typeface="Calibri"/>
              </a:defRPr>
            </a:pPr>
            <a:r>
              <a:t>Проект разбит по смыслу, а не по слоям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2267" y="1737360"/>
            <a:ext cx="2651760" cy="777240"/>
          </a:xfrm>
          <a:prstGeom prst="round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spcAft>
                <a:spcPts val="400"/>
              </a:spcAft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users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2267" y="2651760"/>
            <a:ext cx="2651760" cy="256032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spcAft>
                <a:spcPts val="400"/>
              </a:spcAft>
              <a:defRPr sz="1700" b="0" i="0">
                <a:solidFill>
                  <a:srgbClr val="333333"/>
                </a:solidFill>
                <a:latin typeface="Calibri"/>
              </a:defRPr>
            </a:pPr>
            <a:r>
              <a:t>User</a:t>
            </a:r>
          </a:p>
          <a:p>
            <a:pPr algn="ctr">
              <a:spcAft>
                <a:spcPts val="400"/>
              </a:spcAft>
              <a:defRPr sz="1700" b="0" i="0">
                <a:solidFill>
                  <a:srgbClr val="333333"/>
                </a:solidFill>
                <a:latin typeface="Calibri"/>
              </a:defRPr>
            </a:pPr>
            <a:r>
              <a:t>Роли</a:t>
            </a:r>
          </a:p>
          <a:p>
            <a:pPr algn="ctr">
              <a:spcAft>
                <a:spcPts val="400"/>
              </a:spcAft>
              <a:defRPr sz="1700" b="0" i="0">
                <a:solidFill>
                  <a:srgbClr val="333333"/>
                </a:solidFill>
                <a:latin typeface="Calibri"/>
              </a:defRPr>
            </a:pPr>
            <a:r>
              <a:t>JWT-вход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84067" y="1737360"/>
            <a:ext cx="2651760" cy="77724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spcAft>
                <a:spcPts val="400"/>
              </a:spcAft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courses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84067" y="2651760"/>
            <a:ext cx="2651760" cy="256032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spcAft>
                <a:spcPts val="400"/>
              </a:spcAft>
              <a:defRPr sz="1700" b="0" i="0">
                <a:solidFill>
                  <a:srgbClr val="333333"/>
                </a:solidFill>
                <a:latin typeface="Calibri"/>
              </a:defRPr>
            </a:pPr>
            <a:r>
              <a:t>Course</a:t>
            </a:r>
          </a:p>
          <a:p>
            <a:pPr algn="ctr">
              <a:spcAft>
                <a:spcPts val="400"/>
              </a:spcAft>
              <a:defRPr sz="1700" b="0" i="0">
                <a:solidFill>
                  <a:srgbClr val="333333"/>
                </a:solidFill>
                <a:latin typeface="Calibri"/>
              </a:defRPr>
            </a:pPr>
            <a:r>
              <a:t>Module</a:t>
            </a:r>
          </a:p>
          <a:p>
            <a:pPr algn="ctr">
              <a:spcAft>
                <a:spcPts val="400"/>
              </a:spcAft>
              <a:defRPr sz="1700" b="0" i="0">
                <a:solidFill>
                  <a:srgbClr val="333333"/>
                </a:solidFill>
                <a:latin typeface="Calibri"/>
              </a:defRPr>
            </a:pPr>
            <a:r>
              <a:t>Lesson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5867" y="1737360"/>
            <a:ext cx="2651760" cy="77724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spcAft>
                <a:spcPts val="400"/>
              </a:spcAft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learning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5867" y="2651760"/>
            <a:ext cx="2651760" cy="256032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spcAft>
                <a:spcPts val="400"/>
              </a:spcAft>
              <a:defRPr sz="1700" b="0" i="0">
                <a:solidFill>
                  <a:srgbClr val="333333"/>
                </a:solidFill>
                <a:latin typeface="Calibri"/>
              </a:defRPr>
            </a:pPr>
            <a:r>
              <a:t>Enrollment</a:t>
            </a:r>
          </a:p>
          <a:p>
            <a:pPr algn="ctr">
              <a:spcAft>
                <a:spcPts val="400"/>
              </a:spcAft>
              <a:defRPr sz="1700" b="0" i="0">
                <a:solidFill>
                  <a:srgbClr val="333333"/>
                </a:solidFill>
                <a:latin typeface="Calibri"/>
              </a:defRPr>
            </a:pPr>
            <a:r>
              <a:t>Progress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27667" y="1737360"/>
            <a:ext cx="2651760" cy="77724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spcAft>
                <a:spcPts val="400"/>
              </a:spcAft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quizzes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27667" y="2651760"/>
            <a:ext cx="2651760" cy="256032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spcAft>
                <a:spcPts val="400"/>
              </a:spcAft>
              <a:defRPr sz="1700" b="0" i="0">
                <a:solidFill>
                  <a:srgbClr val="333333"/>
                </a:solidFill>
                <a:latin typeface="Calibri"/>
              </a:defRPr>
            </a:pPr>
            <a:r>
              <a:t>Quiz</a:t>
            </a:r>
          </a:p>
          <a:p>
            <a:pPr algn="ctr">
              <a:spcAft>
                <a:spcPts val="400"/>
              </a:spcAft>
              <a:defRPr sz="1700" b="0" i="0">
                <a:solidFill>
                  <a:srgbClr val="333333"/>
                </a:solidFill>
                <a:latin typeface="Calibri"/>
              </a:defRPr>
            </a:pPr>
            <a:r>
              <a:t>Question</a:t>
            </a:r>
          </a:p>
          <a:p>
            <a:pPr algn="ctr">
              <a:spcAft>
                <a:spcPts val="400"/>
              </a:spcAft>
              <a:defRPr sz="1700" b="0" i="0">
                <a:solidFill>
                  <a:srgbClr val="333333"/>
                </a:solidFill>
                <a:latin typeface="Calibri"/>
              </a:defRPr>
            </a:pPr>
            <a:r>
              <a:t>Answer</a:t>
            </a:r>
          </a:p>
          <a:p>
            <a:pPr algn="ctr">
              <a:spcAft>
                <a:spcPts val="400"/>
              </a:spcAft>
              <a:defRPr sz="1700" b="0" i="0">
                <a:solidFill>
                  <a:srgbClr val="333333"/>
                </a:solidFill>
                <a:latin typeface="Calibri"/>
              </a:defRPr>
            </a:pPr>
            <a:r>
              <a:t>Attempt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577840"/>
            <a:ext cx="1091153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400" b="0" i="1">
                <a:solidFill>
                  <a:srgbClr val="666666"/>
                </a:solidFill>
                <a:latin typeface="Calibri"/>
              </a:defRPr>
            </a:pPr>
            <a:r>
              <a:t>Контент — слева, активность студента — справа, тесты — отдельно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Ключевое архитектурное решение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1500" b="0" i="1">
                <a:solidFill>
                  <a:srgbClr val="666666"/>
                </a:solidFill>
                <a:latin typeface="Calibri"/>
              </a:defRPr>
            </a:pPr>
            <a:r>
              <a:t>Контент и активность студента живут в разных моделях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640080"/>
          </a:xfrm>
          <a:prstGeom prst="round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spcAft>
                <a:spcPts val="400"/>
              </a:spcAft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КОНТЕНТ — что учить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512064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0"/>
              </a:spcAft>
              <a:defRPr sz="2000" b="1" i="0">
                <a:solidFill>
                  <a:srgbClr val="333333"/>
                </a:solidFill>
                <a:latin typeface="Calibri"/>
              </a:defRPr>
            </a:pPr>
            <a:r>
              <a:t>Course → Module → Lesson</a:t>
            </a:r>
          </a:p>
          <a:p>
            <a:pPr algn="l">
              <a:spcAft>
                <a:spcPts val="1600"/>
              </a:spcAft>
              <a:defRPr sz="2000" b="1" i="0">
                <a:solidFill>
                  <a:srgbClr val="333333"/>
                </a:solidFill>
                <a:latin typeface="Calibri"/>
              </a:defRPr>
            </a:pPr>
            <a:r>
              <a:t>Quiz → Question → Answer</a:t>
            </a:r>
          </a:p>
          <a:p>
            <a:pPr algn="l">
              <a:spcAft>
                <a:spcPts val="0"/>
              </a:spcAft>
              <a:defRPr sz="1400" b="0" i="1">
                <a:solidFill>
                  <a:srgbClr val="666666"/>
                </a:solidFill>
                <a:latin typeface="Calibri"/>
              </a:defRPr>
            </a:pPr>
            <a:r>
              <a:t>Живут в приложениях courses и quizzes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9904" y="1737360"/>
            <a:ext cx="18288" cy="420624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355080" y="1737360"/>
            <a:ext cx="5120640" cy="64008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spcAft>
                <a:spcPts val="400"/>
              </a:spcAft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АКТИВНОСТЬ — кто что сделал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560320"/>
            <a:ext cx="512064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Enrollment — запись на курс</a:t>
            </a:r>
          </a:p>
          <a:p>
            <a:pPr algn="l">
              <a:spcAft>
                <a:spcPts val="10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Progress — пройденные уроки</a:t>
            </a:r>
          </a:p>
          <a:p>
            <a:pPr algn="l">
              <a:spcAft>
                <a:spcPts val="16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Attempt — попытки сдать тест</a:t>
            </a:r>
          </a:p>
          <a:p>
            <a:pPr algn="l">
              <a:spcAft>
                <a:spcPts val="0"/>
              </a:spcAft>
              <a:defRPr sz="1400" b="0" i="1">
                <a:solidFill>
                  <a:srgbClr val="666666"/>
                </a:solidFill>
                <a:latin typeface="Calibri"/>
              </a:defRPr>
            </a:pPr>
            <a:r>
              <a:t>Живут в приложении learning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852160"/>
            <a:ext cx="10698480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spcAft>
                <a:spcPts val="400"/>
              </a:spcAft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Если структура курсов изменится — история обучения студентов не сломается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Права доступа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1500" b="0" i="1">
                <a:solidFill>
                  <a:srgbClr val="666666"/>
                </a:solidFill>
                <a:latin typeface="Calibri"/>
              </a:defRPr>
            </a:pPr>
            <a:r>
              <a:t>Работает на уровне сервера, а не в интерфейсе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3767" y="1828800"/>
            <a:ext cx="1828800" cy="822960"/>
          </a:xfrm>
          <a:prstGeom prst="round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spcAft>
                <a:spcPts val="400"/>
              </a:spcAft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Тест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739999" y="2103120"/>
            <a:ext cx="265176" cy="274320"/>
          </a:xfrm>
          <a:prstGeom prst="rightArrow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032607" y="1828800"/>
            <a:ext cx="1828800" cy="822960"/>
          </a:xfrm>
          <a:prstGeom prst="round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spcAft>
                <a:spcPts val="400"/>
              </a:spcAft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Урок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88839" y="2103120"/>
            <a:ext cx="265176" cy="274320"/>
          </a:xfrm>
          <a:prstGeom prst="rightArrow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181447" y="1828800"/>
            <a:ext cx="1828800" cy="822960"/>
          </a:xfrm>
          <a:prstGeom prst="round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spcAft>
                <a:spcPts val="400"/>
              </a:spcAft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Модуль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037679" y="2103120"/>
            <a:ext cx="265176" cy="274320"/>
          </a:xfrm>
          <a:prstGeom prst="rightArrow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30287" y="1828800"/>
            <a:ext cx="1828800" cy="822960"/>
          </a:xfrm>
          <a:prstGeom prst="round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spcAft>
                <a:spcPts val="400"/>
              </a:spcAft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Курс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186519" y="2103120"/>
            <a:ext cx="265176" cy="274320"/>
          </a:xfrm>
          <a:prstGeom prst="rightArrow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479127" y="1828800"/>
            <a:ext cx="1828800" cy="82296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spcAft>
                <a:spcPts val="400"/>
              </a:spcAft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Автор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74720"/>
            <a:ext cx="3383280" cy="137160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ЧИТАТЬ</a:t>
            </a:r>
          </a:p>
          <a:p>
            <a:pPr algn="ctr"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любой авторизованный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16552" y="3474720"/>
            <a:ext cx="3383280" cy="137160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МЕНЯТЬ</a:t>
            </a:r>
          </a:p>
          <a:p>
            <a:pPr algn="ctr"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только автор или админ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3474720"/>
            <a:ext cx="3383280" cy="137160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spcAft>
                <a:spcPts val="400"/>
              </a:spcAft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ЧУЖОЕ</a:t>
            </a:r>
          </a:p>
          <a:p>
            <a:pPr algn="ctr">
              <a:spcAft>
                <a:spcPts val="400"/>
              </a:spcAft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ответ 403 Forbidden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12064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  <a:defRPr sz="1500" b="0" i="0">
                <a:solidFill>
                  <a:srgbClr val="666666"/>
                </a:solidFill>
                <a:latin typeface="Calibri"/>
              </a:defRPr>
            </a:pPr>
            <a:r>
              <a:t>Чтобы проверить права на тест, сервер пробегает всю цепочку наверх:</a:t>
            </a:r>
          </a:p>
          <a:p>
            <a:pPr algn="l">
              <a:spcAft>
                <a:spcPts val="800"/>
              </a:spcAft>
              <a:defRPr sz="2000" b="1" i="0">
                <a:solidFill>
                  <a:srgbClr val="1F3A5F"/>
                </a:solidFill>
                <a:latin typeface="Calibri"/>
              </a:defRPr>
            </a:pPr>
            <a:r>
              <a:t>Тест → Урок → Модуль → Курс → автор</a:t>
            </a:r>
          </a:p>
          <a:p>
            <a:pPr algn="l">
              <a:spcAft>
                <a:spcPts val="0"/>
              </a:spcAft>
              <a:defRPr sz="1500" b="0" i="1">
                <a:solidFill>
                  <a:srgbClr val="333333"/>
                </a:solidFill>
                <a:latin typeface="Calibri"/>
              </a:defRPr>
            </a:pPr>
            <a:r>
              <a:t>Спрятанную кнопку обходят за секунду — отказ сервера обойти нельзя.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Живая демонстрация — Swagger UI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4572000"/>
          </a:xfrm>
          <a:prstGeom prst="rect">
            <a:avLst/>
          </a:prstGeom>
          <a:solidFill>
            <a:srgbClr val="E8EEF3"/>
          </a:solidFill>
          <a:ln w="25400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400"/>
              </a:spcAft>
              <a:defRPr sz="3200" b="1" i="0">
                <a:solidFill>
                  <a:srgbClr val="2E86AB"/>
                </a:solidFill>
                <a:latin typeface="Calibri"/>
              </a:defRPr>
            </a:pPr>
            <a:r>
              <a:t>Скриншот Swagger UI</a:t>
            </a:r>
          </a:p>
          <a:p>
            <a:pPr algn="ctr">
              <a:spcAft>
                <a:spcPts val="800"/>
              </a:spcAft>
              <a:defRPr sz="1800" b="0" i="0">
                <a:solidFill>
                  <a:srgbClr val="666666"/>
                </a:solidFill>
                <a:latin typeface="Calibri"/>
              </a:defRPr>
            </a:pPr>
            <a:r>
              <a:t>http://127.0.0.1:8000/api/schema/swagger-ui/</a:t>
            </a:r>
          </a:p>
          <a:p>
            <a:pPr algn="ctr">
              <a:spcAft>
                <a:spcPts val="0"/>
              </a:spcAft>
              <a:defRPr sz="1300" b="0" i="1">
                <a:solidFill>
                  <a:srgbClr val="666666"/>
                </a:solidFill>
                <a:latin typeface="Calibri"/>
              </a:defRPr>
            </a:pPr>
            <a:r>
              <a:t>(вставь сюда картинку перед защитой — правый клик → «Изменить рисунок»)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Что показывает демонстрация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11535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600"/>
              </a:spcAft>
              <a:defRPr sz="2000" b="0" i="0">
                <a:solidFill>
                  <a:srgbClr val="333333"/>
                </a:solidFill>
                <a:latin typeface="Calibri"/>
              </a:defRPr>
            </a:pPr>
            <a:r>
              <a:t>•  Полный набор операций по 8 ресурсам:</a:t>
            </a:r>
          </a:p>
          <a:p>
            <a:pPr algn="l">
              <a:spcAft>
                <a:spcPts val="1600"/>
              </a:spcAft>
              <a:defRPr sz="2000" b="0" i="0">
                <a:solidFill>
                  <a:srgbClr val="333333"/>
                </a:solidFill>
                <a:latin typeface="Calibri"/>
              </a:defRPr>
            </a:pPr>
            <a:r>
              <a:t>     courses · modules · lessons · enrollments ·</a:t>
            </a:r>
          </a:p>
          <a:p>
            <a:pPr algn="l">
              <a:spcAft>
                <a:spcPts val="1600"/>
              </a:spcAft>
              <a:defRPr sz="2000" b="0" i="0">
                <a:solidFill>
                  <a:srgbClr val="333333"/>
                </a:solidFill>
                <a:latin typeface="Calibri"/>
              </a:defRPr>
            </a:pPr>
            <a:r>
              <a:t>     progress · quizzes · questions · attempts</a:t>
            </a:r>
          </a:p>
          <a:p>
            <a:pPr algn="l">
              <a:spcAft>
                <a:spcPts val="1600"/>
              </a:spcAft>
              <a:defRPr sz="2000" b="0" i="0">
                <a:solidFill>
                  <a:srgbClr val="333333"/>
                </a:solidFill>
                <a:latin typeface="Calibri"/>
              </a:defRPr>
            </a:pPr>
            <a:r>
              <a:t>•  Права работают: чужой объект — 403, свой — 200</a:t>
            </a:r>
          </a:p>
          <a:p>
            <a:pPr algn="l">
              <a:spcAft>
                <a:spcPts val="1600"/>
              </a:spcAft>
              <a:defRPr sz="2000" b="0" i="0">
                <a:solidFill>
                  <a:srgbClr val="333333"/>
                </a:solidFill>
                <a:latin typeface="Calibri"/>
              </a:defRPr>
            </a:pPr>
            <a:r>
              <a:t>•  Пагинация: отдаём по 20 записей, а не всю базу</a:t>
            </a:r>
          </a:p>
          <a:p>
            <a:pPr algn="l">
              <a:spcAft>
                <a:spcPts val="1600"/>
              </a:spcAft>
              <a:defRPr sz="2000" b="0" i="0">
                <a:solidFill>
                  <a:srgbClr val="333333"/>
                </a:solidFill>
                <a:latin typeface="Calibri"/>
              </a:defRPr>
            </a:pPr>
            <a:r>
              <a:t>•  Вложенность: у урока есть ссылка на модуль, у модуля — на курс</a:t>
            </a:r>
          </a:p>
          <a:p>
            <a:pPr algn="l">
              <a:spcAft>
                <a:spcPts val="1600"/>
              </a:spcAft>
              <a:defRPr sz="2000" b="0" i="0">
                <a:solidFill>
                  <a:srgbClr val="333333"/>
                </a:solidFill>
                <a:latin typeface="Calibri"/>
              </a:defRPr>
            </a:pPr>
            <a:r>
              <a:t>•  Автодокументация: Swagger строится прямо из кода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Результаты тестирования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21208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400"/>
              </a:spcAft>
              <a:defRPr sz="2200" b="1" i="0">
                <a:solidFill>
                  <a:srgbClr val="1F3A5F"/>
                </a:solidFill>
                <a:latin typeface="Calibri"/>
              </a:defRPr>
            </a:pPr>
            <a:r>
              <a:t>Проверено:</a:t>
            </a:r>
          </a:p>
          <a:p>
            <a:pPr algn="l">
              <a:spcAft>
                <a:spcPts val="1000"/>
              </a:spcAft>
              <a:defRPr sz="1700" b="0" i="0">
                <a:solidFill>
                  <a:srgbClr val="27AE60"/>
                </a:solidFill>
                <a:latin typeface="Calibri"/>
              </a:defRPr>
            </a:pPr>
            <a:r>
              <a:t>✓  python manage.py check — без замечаний</a:t>
            </a:r>
          </a:p>
          <a:p>
            <a:pPr algn="l">
              <a:spcAft>
                <a:spcPts val="1000"/>
              </a:spcAft>
              <a:defRPr sz="1700" b="0" i="0">
                <a:solidFill>
                  <a:srgbClr val="27AE60"/>
                </a:solidFill>
                <a:latin typeface="Calibri"/>
              </a:defRPr>
            </a:pPr>
            <a:r>
              <a:t>✓  Сквозной smoke-тест API — 7 запросов</a:t>
            </a:r>
          </a:p>
          <a:p>
            <a:pPr algn="l">
              <a:spcAft>
                <a:spcPts val="1000"/>
              </a:spcAft>
              <a:defRPr sz="1700" b="0" i="0">
                <a:solidFill>
                  <a:srgbClr val="27AE60"/>
                </a:solidFill>
                <a:latin typeface="Calibri"/>
              </a:defRPr>
            </a:pPr>
            <a:r>
              <a:t>✓  Миграции с чистой базы — без конфликтов</a:t>
            </a:r>
          </a:p>
          <a:p>
            <a:pPr algn="l">
              <a:spcAft>
                <a:spcPts val="1400"/>
              </a:spcAft>
              <a:defRPr sz="800" b="0" i="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 algn="l">
              <a:spcAft>
                <a:spcPts val="1200"/>
              </a:spcAft>
              <a:defRPr sz="1800" b="1" i="0">
                <a:solidFill>
                  <a:srgbClr val="1F3A5F"/>
                </a:solidFill>
                <a:latin typeface="Calibri"/>
              </a:defRPr>
            </a:pPr>
            <a:r>
              <a:t>Не покрыто (в планах после защиты):</a:t>
            </a:r>
          </a:p>
          <a:p>
            <a:pPr algn="l">
              <a:spcAft>
                <a:spcPts val="1000"/>
              </a:spcAft>
              <a:defRPr sz="1700" b="0" i="0">
                <a:solidFill>
                  <a:srgbClr val="E67E22"/>
                </a:solidFill>
                <a:latin typeface="Calibri"/>
              </a:defRPr>
            </a:pPr>
            <a:r>
              <a:t>−  Юнит-тесты логики моделей</a:t>
            </a:r>
          </a:p>
          <a:p>
            <a:pPr algn="l">
              <a:spcAft>
                <a:spcPts val="1000"/>
              </a:spcAft>
              <a:defRPr sz="1700" b="0" i="0">
                <a:solidFill>
                  <a:srgbClr val="E67E22"/>
                </a:solidFill>
                <a:latin typeface="Calibri"/>
              </a:defRPr>
            </a:pPr>
            <a:r>
              <a:t>−  Нагрузочное тестирование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554480"/>
            <a:ext cx="5212080" cy="484632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l">
              <a:spcAft>
                <a:spcPts val="1000"/>
              </a:spcAft>
              <a:defRPr sz="1400" b="0" i="0">
                <a:solidFill>
                  <a:srgbClr val="33FF66"/>
                </a:solidFill>
                <a:latin typeface="Consolas"/>
              </a:defRPr>
            </a:pPr>
            <a:r>
              <a:t>LOGIN:                 200  ✓</a:t>
            </a:r>
          </a:p>
          <a:p>
            <a:pPr algn="l">
              <a:spcAft>
                <a:spcPts val="1000"/>
              </a:spcAft>
              <a:defRPr sz="1400" b="0" i="0">
                <a:solidFill>
                  <a:srgbClr val="33FF66"/>
                </a:solidFill>
                <a:latin typeface="Consolas"/>
              </a:defRPr>
            </a:pPr>
            <a:r>
              <a:t>GET /api/courses/      200  → count: 3</a:t>
            </a:r>
          </a:p>
          <a:p>
            <a:pPr algn="l">
              <a:spcAft>
                <a:spcPts val="1000"/>
              </a:spcAft>
              <a:defRPr sz="1400" b="0" i="0">
                <a:solidFill>
                  <a:srgbClr val="33FF66"/>
                </a:solidFill>
                <a:latin typeface="Consolas"/>
              </a:defRPr>
            </a:pPr>
            <a:r>
              <a:t>GET /api/modules/      200  → count: 6</a:t>
            </a:r>
          </a:p>
          <a:p>
            <a:pPr algn="l">
              <a:spcAft>
                <a:spcPts val="1000"/>
              </a:spcAft>
              <a:defRPr sz="1400" b="0" i="0">
                <a:solidFill>
                  <a:srgbClr val="33FF66"/>
                </a:solidFill>
                <a:latin typeface="Consolas"/>
              </a:defRPr>
            </a:pPr>
            <a:r>
              <a:t>GET /api/lessons/      200  → count: 18</a:t>
            </a:r>
          </a:p>
          <a:p>
            <a:pPr algn="l">
              <a:spcAft>
                <a:spcPts val="1000"/>
              </a:spcAft>
              <a:defRPr sz="1400" b="0" i="0">
                <a:solidFill>
                  <a:srgbClr val="33FF66"/>
                </a:solidFill>
                <a:latin typeface="Consolas"/>
              </a:defRPr>
            </a:pPr>
            <a:r>
              <a:t>GET /api/quizzes/      200  → count: 9</a:t>
            </a:r>
          </a:p>
          <a:p>
            <a:pPr algn="l">
              <a:spcAft>
                <a:spcPts val="1000"/>
              </a:spcAft>
              <a:defRPr sz="1400" b="0" i="0">
                <a:solidFill>
                  <a:srgbClr val="33FF66"/>
                </a:solidFill>
                <a:latin typeface="Consolas"/>
              </a:defRPr>
            </a:pPr>
            <a:r>
              <a:t>GET /api/progress/     200  → count: 18</a:t>
            </a:r>
          </a:p>
          <a:p>
            <a:pPr algn="l">
              <a:spcAft>
                <a:spcPts val="1000"/>
              </a:spcAft>
              <a:defRPr sz="1400" b="0" i="0">
                <a:solidFill>
                  <a:srgbClr val="33FF66"/>
                </a:solidFill>
                <a:latin typeface="Consolas"/>
              </a:defRPr>
            </a:pPr>
            <a:r>
              <a:t>PATCH /api/modules/1/  200  ✓ (автор)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Бизнес-ценность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3727" y="2011680"/>
            <a:ext cx="3474720" cy="822960"/>
          </a:xfrm>
          <a:prstGeom prst="round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spcAft>
                <a:spcPts val="400"/>
              </a:spcAft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Экономия времени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3727" y="2971800"/>
            <a:ext cx="3474720" cy="237744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spcAft>
                <a:spcPts val="4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Тесты проверяются</a:t>
            </a:r>
          </a:p>
          <a:p>
            <a:pPr algn="ctr">
              <a:spcAft>
                <a:spcPts val="4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автоматически,</a:t>
            </a:r>
          </a:p>
          <a:p>
            <a:pPr algn="ctr">
              <a:spcAft>
                <a:spcPts val="4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прогресс считается сам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8487" y="2011680"/>
            <a:ext cx="3474720" cy="82296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spcAft>
                <a:spcPts val="400"/>
              </a:spcAft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Прозрачность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8487" y="2971800"/>
            <a:ext cx="3474720" cy="237744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spcAft>
                <a:spcPts val="4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Родитель или руководитель</a:t>
            </a:r>
          </a:p>
          <a:p>
            <a:pPr algn="ctr">
              <a:spcAft>
                <a:spcPts val="4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видит реальную картину,</a:t>
            </a:r>
          </a:p>
          <a:p>
            <a:pPr algn="ctr">
              <a:spcAft>
                <a:spcPts val="4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а не пересказ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53247" y="2011680"/>
            <a:ext cx="3474720" cy="82296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spcAft>
                <a:spcPts val="400"/>
              </a:spcAft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Задел под продукт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53247" y="2971800"/>
            <a:ext cx="3474720" cy="237744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spcAft>
                <a:spcPts val="4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Из этой базы можно</a:t>
            </a:r>
          </a:p>
          <a:p>
            <a:pPr algn="ctr">
              <a:spcAft>
                <a:spcPts val="4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сделать платную подписку</a:t>
            </a:r>
          </a:p>
          <a:p>
            <a:pPr algn="ctr">
              <a:spcAft>
                <a:spcPts val="4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за 2–3 итерации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Итоги и планы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48640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400"/>
              </a:spcAft>
              <a:defRPr sz="2200" b="1" i="0">
                <a:solidFill>
                  <a:srgbClr val="1F3A5F"/>
                </a:solidFill>
                <a:latin typeface="Calibri"/>
              </a:defRPr>
            </a:pPr>
            <a:r>
              <a:t>Что сделано:</a:t>
            </a:r>
          </a:p>
          <a:p>
            <a:pPr algn="l">
              <a:spcAft>
                <a:spcPts val="9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✓  Backend на Django REST Framework</a:t>
            </a:r>
          </a:p>
          <a:p>
            <a:pPr algn="l">
              <a:spcAft>
                <a:spcPts val="9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✓  10 моделей в 4 приложениях</a:t>
            </a:r>
          </a:p>
          <a:p>
            <a:pPr algn="l">
              <a:spcAft>
                <a:spcPts val="9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✓  27 эндпоинтов API</a:t>
            </a:r>
          </a:p>
          <a:p>
            <a:pPr algn="l">
              <a:spcAft>
                <a:spcPts val="9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✓  Роли, права, JWT-аутентификация</a:t>
            </a:r>
          </a:p>
          <a:p>
            <a:pPr algn="l">
              <a:spcAft>
                <a:spcPts val="9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✓  Swagger — автодокументация</a:t>
            </a:r>
          </a:p>
          <a:p>
            <a:pPr algn="l">
              <a:spcAft>
                <a:spcPts val="9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✓  Наполнение БД одной командой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554480"/>
            <a:ext cx="521208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400"/>
              </a:spcAft>
              <a:defRPr sz="2200" b="1" i="0">
                <a:solidFill>
                  <a:srgbClr val="1F3A5F"/>
                </a:solidFill>
                <a:latin typeface="Calibri"/>
              </a:defRPr>
            </a:pPr>
            <a:r>
              <a:t>Планы на будущее:</a:t>
            </a:r>
          </a:p>
          <a:p>
            <a:pPr algn="l">
              <a:spcAft>
                <a:spcPts val="9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•  Юнит-тесты и нагрузочное тестирование</a:t>
            </a:r>
          </a:p>
          <a:p>
            <a:pPr algn="l">
              <a:spcAft>
                <a:spcPts val="9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•  Хранение видеоуроков</a:t>
            </a:r>
          </a:p>
          <a:p>
            <a:pPr algn="l">
              <a:spcAft>
                <a:spcPts val="9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•  Оплата курсов</a:t>
            </a:r>
          </a:p>
          <a:p>
            <a:pPr algn="l">
              <a:spcAft>
                <a:spcPts val="9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•  Аналитика для преподавателя</a:t>
            </a:r>
          </a:p>
          <a:p>
            <a:pPr algn="l">
              <a:spcAft>
                <a:spcPts val="9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•  Frontend и мобильное приложение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26480"/>
            <a:ext cx="1091153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2000" b="1" i="0">
                <a:solidFill>
                  <a:srgbClr val="1F3A5F"/>
                </a:solidFill>
                <a:latin typeface="Calibri"/>
              </a:defRPr>
            </a:pPr>
            <a:r>
              <a:t>Спасибо за внимание! Готов ответить на вопросы.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700</Words>
  <Application>Microsoft Office PowerPoint</Application>
  <PresentationFormat>Широкоэкранный</PresentationFormat>
  <Paragraphs>153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Пользователь</cp:lastModifiedBy>
  <cp:revision>2</cp:revision>
  <dcterms:created xsi:type="dcterms:W3CDTF">2013-01-27T09:14:16Z</dcterms:created>
  <dcterms:modified xsi:type="dcterms:W3CDTF">2026-10-06T11:28:10Z</dcterms:modified>
  <cp:category/>
</cp:coreProperties>
</file>